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Lora Medium"/>
      <p:regular r:id="rId16"/>
      <p:bold r:id="rId17"/>
      <p:italic r:id="rId18"/>
      <p:boldItalic r:id="rId19"/>
    </p:embeddedFont>
    <p:embeddedFont>
      <p:font typeface="Bebas Neue"/>
      <p:regular r:id="rId20"/>
    </p:embeddedFont>
    <p:embeddedFont>
      <p:font typeface="Lora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basNeue-regular.fntdata"/><Relationship Id="rId22" Type="http://schemas.openxmlformats.org/officeDocument/2006/relationships/font" Target="fonts/Lora-bold.fntdata"/><Relationship Id="rId21" Type="http://schemas.openxmlformats.org/officeDocument/2006/relationships/font" Target="fonts/Lora-regular.fntdata"/><Relationship Id="rId24" Type="http://schemas.openxmlformats.org/officeDocument/2006/relationships/font" Target="fonts/Lora-boldItalic.fntdata"/><Relationship Id="rId23" Type="http://schemas.openxmlformats.org/officeDocument/2006/relationships/font" Target="fonts/Lor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oraMedium-bold.fntdata"/><Relationship Id="rId16" Type="http://schemas.openxmlformats.org/officeDocument/2006/relationships/font" Target="fonts/LoraMedium-regular.fntdata"/><Relationship Id="rId19" Type="http://schemas.openxmlformats.org/officeDocument/2006/relationships/font" Target="fonts/LoraMedium-boldItalic.fntdata"/><Relationship Id="rId18" Type="http://schemas.openxmlformats.org/officeDocument/2006/relationships/font" Target="fonts/Lora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f32adf2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f32adf2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f32adf29f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cf32adf29f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fa153e31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fa153e31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fa153e31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fa153e31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fa153e31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fa153e31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fa153e31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fa153e31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fa153e31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cfa153e31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fa153e31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fa153e31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fa153e31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fa153e31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252325" y="849607"/>
            <a:ext cx="8520600" cy="20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311750" y="3973225"/>
            <a:ext cx="85206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st introduction" type="secHead">
  <p:cSld name="SECTION_HEADER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>
            <p:ph idx="2" type="pic"/>
          </p:nvPr>
        </p:nvSpPr>
        <p:spPr>
          <a:xfrm>
            <a:off x="1380375" y="989850"/>
            <a:ext cx="3163800" cy="3163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5"/>
          <p:cNvSpPr txBox="1"/>
          <p:nvPr>
            <p:ph type="title"/>
          </p:nvPr>
        </p:nvSpPr>
        <p:spPr>
          <a:xfrm>
            <a:off x="4939275" y="1948632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939275" y="1546075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3" type="body"/>
          </p:nvPr>
        </p:nvSpPr>
        <p:spPr>
          <a:xfrm>
            <a:off x="4939275" y="3043325"/>
            <a:ext cx="28254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yers introduction" type="tx">
  <p:cSld name="TITLE_AND_BODY">
    <p:bg>
      <p:bgPr>
        <a:solidFill>
          <a:schemeClr val="dk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625150" y="2282596"/>
            <a:ext cx="1344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980200" y="188595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/>
          <p:nvPr>
            <p:ph idx="3" type="pic"/>
          </p:nvPr>
        </p:nvSpPr>
        <p:spPr>
          <a:xfrm>
            <a:off x="1792200" y="239625"/>
            <a:ext cx="1371600" cy="1371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5" name="Google Shape;65;p16"/>
          <p:cNvGrpSpPr/>
          <p:nvPr/>
        </p:nvGrpSpPr>
        <p:grpSpPr>
          <a:xfrm>
            <a:off x="1792200" y="1772950"/>
            <a:ext cx="5559600" cy="1597600"/>
            <a:chOff x="1807850" y="1773875"/>
            <a:chExt cx="5559600" cy="1597600"/>
          </a:xfrm>
        </p:grpSpPr>
        <p:cxnSp>
          <p:nvCxnSpPr>
            <p:cNvPr id="66" name="Google Shape;66;p16"/>
            <p:cNvCxnSpPr/>
            <p:nvPr/>
          </p:nvCxnSpPr>
          <p:spPr>
            <a:xfrm>
              <a:off x="1807850" y="17738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16"/>
            <p:cNvCxnSpPr/>
            <p:nvPr/>
          </p:nvCxnSpPr>
          <p:spPr>
            <a:xfrm>
              <a:off x="1807850" y="33714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" name="Google Shape;68;p16"/>
          <p:cNvSpPr txBox="1"/>
          <p:nvPr>
            <p:ph type="title"/>
          </p:nvPr>
        </p:nvSpPr>
        <p:spPr>
          <a:xfrm>
            <a:off x="3183350" y="64153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9" name="Google Shape;69;p16"/>
          <p:cNvSpPr txBox="1"/>
          <p:nvPr>
            <p:ph idx="4" type="subTitle"/>
          </p:nvPr>
        </p:nvSpPr>
        <p:spPr>
          <a:xfrm>
            <a:off x="3183350" y="237663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5" type="body"/>
          </p:nvPr>
        </p:nvSpPr>
        <p:spPr>
          <a:xfrm>
            <a:off x="6008750" y="636146"/>
            <a:ext cx="1344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71" name="Google Shape;71;p16"/>
          <p:cNvSpPr txBox="1"/>
          <p:nvPr>
            <p:ph idx="6" type="title"/>
          </p:nvPr>
        </p:nvSpPr>
        <p:spPr>
          <a:xfrm>
            <a:off x="1799750" y="228798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2" name="Google Shape;72;p16"/>
          <p:cNvSpPr txBox="1"/>
          <p:nvPr>
            <p:ph idx="7" type="subTitle"/>
          </p:nvPr>
        </p:nvSpPr>
        <p:spPr>
          <a:xfrm>
            <a:off x="1799750" y="1884113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" name="Google Shape;73;p16"/>
          <p:cNvSpPr/>
          <p:nvPr>
            <p:ph idx="8" type="pic"/>
          </p:nvPr>
        </p:nvSpPr>
        <p:spPr>
          <a:xfrm>
            <a:off x="1792200" y="348920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 txBox="1"/>
          <p:nvPr>
            <p:ph idx="9" type="title"/>
          </p:nvPr>
        </p:nvSpPr>
        <p:spPr>
          <a:xfrm>
            <a:off x="3183350" y="3893058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5" name="Google Shape;75;p16"/>
          <p:cNvSpPr txBox="1"/>
          <p:nvPr>
            <p:ph idx="13" type="subTitle"/>
          </p:nvPr>
        </p:nvSpPr>
        <p:spPr>
          <a:xfrm>
            <a:off x="3183350" y="3489188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4" type="body"/>
          </p:nvPr>
        </p:nvSpPr>
        <p:spPr>
          <a:xfrm>
            <a:off x="6008750" y="3887671"/>
            <a:ext cx="1344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use rule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983450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6808175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3" type="body"/>
          </p:nvPr>
        </p:nvSpPr>
        <p:spPr>
          <a:xfrm>
            <a:off x="3895799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pla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983450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808175" y="3424101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3895799" y="3424101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983450" y="1695513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body"/>
          </p:nvPr>
        </p:nvSpPr>
        <p:spPr>
          <a:xfrm>
            <a:off x="6808175" y="1695513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3895799" y="1695513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ONE_COLUMN_TEXT"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264450" y="1863150"/>
            <a:ext cx="8531400" cy="141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None/>
              <a:defRPr b="1" sz="10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&amp; Answer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264600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2" type="body"/>
          </p:nvPr>
        </p:nvSpPr>
        <p:spPr>
          <a:xfrm>
            <a:off x="5966850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3" type="body"/>
          </p:nvPr>
        </p:nvSpPr>
        <p:spPr>
          <a:xfrm>
            <a:off x="3115725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4" type="body"/>
          </p:nvPr>
        </p:nvSpPr>
        <p:spPr>
          <a:xfrm>
            <a:off x="264600" y="1344900"/>
            <a:ext cx="8614800" cy="1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085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1pPr>
            <a:lvl2pPr indent="-4508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2pPr>
            <a:lvl3pPr indent="-4508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3pPr>
            <a:lvl4pPr indent="-45085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4pPr>
            <a:lvl5pPr indent="-450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5pPr>
            <a:lvl6pPr indent="-4508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6pPr>
            <a:lvl7pPr indent="-4508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7pPr>
            <a:lvl8pPr indent="-4508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8pPr>
            <a:lvl9pPr indent="-4508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5" type="subTitle"/>
          </p:nvPr>
        </p:nvSpPr>
        <p:spPr>
          <a:xfrm>
            <a:off x="269562" y="307021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nking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6318600" y="576450"/>
            <a:ext cx="257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0" name="Google Shape;100;p21"/>
          <p:cNvSpPr/>
          <p:nvPr>
            <p:ph idx="2" type="pic"/>
          </p:nvPr>
        </p:nvSpPr>
        <p:spPr>
          <a:xfrm>
            <a:off x="4883475" y="299125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1"/>
          <p:cNvSpPr txBox="1"/>
          <p:nvPr>
            <p:ph idx="1" type="subTitle"/>
          </p:nvPr>
        </p:nvSpPr>
        <p:spPr>
          <a:xfrm>
            <a:off x="6318600" y="322425"/>
            <a:ext cx="25782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02" name="Google Shape;102;p21"/>
          <p:cNvCxnSpPr/>
          <p:nvPr/>
        </p:nvCxnSpPr>
        <p:spPr>
          <a:xfrm>
            <a:off x="285575" y="1807575"/>
            <a:ext cx="861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21"/>
          <p:cNvCxnSpPr/>
          <p:nvPr/>
        </p:nvCxnSpPr>
        <p:spPr>
          <a:xfrm>
            <a:off x="285575" y="3456775"/>
            <a:ext cx="861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21"/>
          <p:cNvSpPr txBox="1"/>
          <p:nvPr>
            <p:ph idx="3" type="title"/>
          </p:nvPr>
        </p:nvSpPr>
        <p:spPr>
          <a:xfrm>
            <a:off x="6318600" y="2223700"/>
            <a:ext cx="257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5" name="Google Shape;105;p21"/>
          <p:cNvSpPr/>
          <p:nvPr>
            <p:ph idx="4" type="pic"/>
          </p:nvPr>
        </p:nvSpPr>
        <p:spPr>
          <a:xfrm>
            <a:off x="4883475" y="1946375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1"/>
          <p:cNvSpPr txBox="1"/>
          <p:nvPr>
            <p:ph idx="5" type="subTitle"/>
          </p:nvPr>
        </p:nvSpPr>
        <p:spPr>
          <a:xfrm>
            <a:off x="6318600" y="1969675"/>
            <a:ext cx="25782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idx="6" type="title"/>
          </p:nvPr>
        </p:nvSpPr>
        <p:spPr>
          <a:xfrm>
            <a:off x="6318600" y="3870950"/>
            <a:ext cx="257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8" name="Google Shape;108;p21"/>
          <p:cNvSpPr/>
          <p:nvPr>
            <p:ph idx="7" type="pic"/>
          </p:nvPr>
        </p:nvSpPr>
        <p:spPr>
          <a:xfrm>
            <a:off x="4883475" y="3593625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1"/>
          <p:cNvSpPr txBox="1"/>
          <p:nvPr>
            <p:ph idx="8" type="subTitle"/>
          </p:nvPr>
        </p:nvSpPr>
        <p:spPr>
          <a:xfrm>
            <a:off x="6318600" y="3616925"/>
            <a:ext cx="25782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" name="Google Shape;110;p21"/>
          <p:cNvSpPr txBox="1"/>
          <p:nvPr>
            <p:ph idx="9" type="title"/>
          </p:nvPr>
        </p:nvSpPr>
        <p:spPr>
          <a:xfrm>
            <a:off x="137800" y="3511325"/>
            <a:ext cx="47823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1" name="Google Shape;111;p21"/>
          <p:cNvSpPr txBox="1"/>
          <p:nvPr>
            <p:ph idx="13" type="title"/>
          </p:nvPr>
        </p:nvSpPr>
        <p:spPr>
          <a:xfrm>
            <a:off x="137800" y="1877950"/>
            <a:ext cx="47823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2" name="Google Shape;112;p21"/>
          <p:cNvSpPr txBox="1"/>
          <p:nvPr>
            <p:ph idx="14" type="title"/>
          </p:nvPr>
        </p:nvSpPr>
        <p:spPr>
          <a:xfrm>
            <a:off x="137800" y="212925"/>
            <a:ext cx="47823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APTION_ONLY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264450" y="1863150"/>
            <a:ext cx="8531400" cy="141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IG_NUMB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MAIN_POINT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/>
          <p:nvPr>
            <p:ph idx="1" type="body"/>
          </p:nvPr>
        </p:nvSpPr>
        <p:spPr>
          <a:xfrm>
            <a:off x="264600" y="2229825"/>
            <a:ext cx="8614800" cy="25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085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1pPr>
            <a:lvl2pPr indent="-4508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2pPr>
            <a:lvl3pPr indent="-4508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3pPr>
            <a:lvl4pPr indent="-45085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4pPr>
            <a:lvl5pPr indent="-450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5pPr>
            <a:lvl6pPr indent="-4508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6pPr>
            <a:lvl7pPr indent="-4508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7pPr>
            <a:lvl8pPr indent="-4508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8pPr>
            <a:lvl9pPr indent="-4508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0" name="Google Shape;120;p25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idx="1" type="body"/>
          </p:nvPr>
        </p:nvSpPr>
        <p:spPr>
          <a:xfrm>
            <a:off x="285575" y="3424100"/>
            <a:ext cx="4211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2" type="body"/>
          </p:nvPr>
        </p:nvSpPr>
        <p:spPr>
          <a:xfrm>
            <a:off x="4689079" y="3424100"/>
            <a:ext cx="4211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7" name="Google Shape;127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8" name="Google Shape;12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2" name="Google Shape;132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SECTION_HEADER_1_1"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285575" y="3424100"/>
            <a:ext cx="4211700" cy="13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●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○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■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●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○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■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●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○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■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SECTION_HEADER_1_2">
    <p:bg>
      <p:bgPr>
        <a:solidFill>
          <a:schemeClr val="dk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2962275" y="1546075"/>
            <a:ext cx="32196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2962275" y="2680025"/>
            <a:ext cx="32196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" type="subTitle"/>
          </p:nvPr>
        </p:nvSpPr>
        <p:spPr>
          <a:xfrm>
            <a:off x="46890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31"/>
          <p:cNvSpPr txBox="1"/>
          <p:nvPr>
            <p:ph idx="2" type="subTitle"/>
          </p:nvPr>
        </p:nvSpPr>
        <p:spPr>
          <a:xfrm>
            <a:off x="4689075" y="4476488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31"/>
          <p:cNvSpPr txBox="1"/>
          <p:nvPr>
            <p:ph idx="3" type="subTitle"/>
          </p:nvPr>
        </p:nvSpPr>
        <p:spPr>
          <a:xfrm>
            <a:off x="2855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31"/>
          <p:cNvSpPr txBox="1"/>
          <p:nvPr>
            <p:ph idx="4" type="subTitle"/>
          </p:nvPr>
        </p:nvSpPr>
        <p:spPr>
          <a:xfrm>
            <a:off x="285575" y="4476488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6" name="Google Shape;146;p31"/>
          <p:cNvSpPr txBox="1"/>
          <p:nvPr>
            <p:ph idx="5" type="subTitle"/>
          </p:nvPr>
        </p:nvSpPr>
        <p:spPr>
          <a:xfrm>
            <a:off x="4689075" y="30860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7" name="Google Shape;147;p31"/>
          <p:cNvSpPr txBox="1"/>
          <p:nvPr>
            <p:ph idx="6" type="subTitle"/>
          </p:nvPr>
        </p:nvSpPr>
        <p:spPr>
          <a:xfrm>
            <a:off x="285575" y="30860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SECTION_HEADER_2">
    <p:bg>
      <p:bgPr>
        <a:solidFill>
          <a:schemeClr val="dk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/>
          <p:nvPr>
            <p:ph idx="2" type="pic"/>
          </p:nvPr>
        </p:nvSpPr>
        <p:spPr>
          <a:xfrm>
            <a:off x="1380375" y="989850"/>
            <a:ext cx="3163800" cy="31638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2"/>
          <p:cNvSpPr txBox="1"/>
          <p:nvPr>
            <p:ph type="title"/>
          </p:nvPr>
        </p:nvSpPr>
        <p:spPr>
          <a:xfrm>
            <a:off x="4939275" y="1546082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51" name="Google Shape;151;p32"/>
          <p:cNvSpPr txBox="1"/>
          <p:nvPr>
            <p:ph idx="1" type="body"/>
          </p:nvPr>
        </p:nvSpPr>
        <p:spPr>
          <a:xfrm>
            <a:off x="4939275" y="2640775"/>
            <a:ext cx="2825400" cy="9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1" type="body"/>
          </p:nvPr>
        </p:nvSpPr>
        <p:spPr>
          <a:xfrm>
            <a:off x="46890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55" name="Google Shape;155;p33"/>
          <p:cNvSpPr txBox="1"/>
          <p:nvPr>
            <p:ph idx="2" type="subTitle"/>
          </p:nvPr>
        </p:nvSpPr>
        <p:spPr>
          <a:xfrm>
            <a:off x="46890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6" name="Google Shape;156;p33"/>
          <p:cNvSpPr txBox="1"/>
          <p:nvPr>
            <p:ph idx="3" type="body"/>
          </p:nvPr>
        </p:nvSpPr>
        <p:spPr>
          <a:xfrm>
            <a:off x="2855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57" name="Google Shape;157;p33"/>
          <p:cNvSpPr txBox="1"/>
          <p:nvPr>
            <p:ph idx="4" type="subTitle"/>
          </p:nvPr>
        </p:nvSpPr>
        <p:spPr>
          <a:xfrm>
            <a:off x="2855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2_2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34"/>
          <p:cNvSpPr txBox="1"/>
          <p:nvPr>
            <p:ph idx="1" type="body"/>
          </p:nvPr>
        </p:nvSpPr>
        <p:spPr>
          <a:xfrm>
            <a:off x="285575" y="3725900"/>
            <a:ext cx="278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1" name="Google Shape;161;p34"/>
          <p:cNvSpPr txBox="1"/>
          <p:nvPr>
            <p:ph idx="2" type="subTitle"/>
          </p:nvPr>
        </p:nvSpPr>
        <p:spPr>
          <a:xfrm>
            <a:off x="285575" y="3424100"/>
            <a:ext cx="27855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2" name="Google Shape;162;p34"/>
          <p:cNvSpPr txBox="1"/>
          <p:nvPr>
            <p:ph idx="3" type="body"/>
          </p:nvPr>
        </p:nvSpPr>
        <p:spPr>
          <a:xfrm>
            <a:off x="6115275" y="3725900"/>
            <a:ext cx="278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3" name="Google Shape;163;p34"/>
          <p:cNvSpPr txBox="1"/>
          <p:nvPr>
            <p:ph idx="4" type="subTitle"/>
          </p:nvPr>
        </p:nvSpPr>
        <p:spPr>
          <a:xfrm>
            <a:off x="6115275" y="3424100"/>
            <a:ext cx="27855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4" name="Google Shape;164;p34"/>
          <p:cNvSpPr txBox="1"/>
          <p:nvPr>
            <p:ph idx="5" type="body"/>
          </p:nvPr>
        </p:nvSpPr>
        <p:spPr>
          <a:xfrm>
            <a:off x="3200425" y="3725900"/>
            <a:ext cx="278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5" name="Google Shape;165;p34"/>
          <p:cNvSpPr txBox="1"/>
          <p:nvPr>
            <p:ph idx="6" type="subTitle"/>
          </p:nvPr>
        </p:nvSpPr>
        <p:spPr>
          <a:xfrm>
            <a:off x="3200425" y="3424100"/>
            <a:ext cx="27855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2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>
            <p:ph idx="1" type="body"/>
          </p:nvPr>
        </p:nvSpPr>
        <p:spPr>
          <a:xfrm>
            <a:off x="4689075" y="1997325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8" name="Google Shape;168;p35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" name="Google Shape;169;p35"/>
          <p:cNvSpPr txBox="1"/>
          <p:nvPr>
            <p:ph idx="2" type="subTitle"/>
          </p:nvPr>
        </p:nvSpPr>
        <p:spPr>
          <a:xfrm>
            <a:off x="46890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0" name="Google Shape;170;p35"/>
          <p:cNvSpPr txBox="1"/>
          <p:nvPr>
            <p:ph idx="3" type="body"/>
          </p:nvPr>
        </p:nvSpPr>
        <p:spPr>
          <a:xfrm>
            <a:off x="46890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71" name="Google Shape;171;p35"/>
          <p:cNvSpPr txBox="1"/>
          <p:nvPr>
            <p:ph idx="4" type="subTitle"/>
          </p:nvPr>
        </p:nvSpPr>
        <p:spPr>
          <a:xfrm>
            <a:off x="46890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2" name="Google Shape;172;p35"/>
          <p:cNvSpPr txBox="1"/>
          <p:nvPr>
            <p:ph idx="5" type="body"/>
          </p:nvPr>
        </p:nvSpPr>
        <p:spPr>
          <a:xfrm>
            <a:off x="285575" y="1997325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73" name="Google Shape;173;p35"/>
          <p:cNvSpPr txBox="1"/>
          <p:nvPr>
            <p:ph idx="6" type="subTitle"/>
          </p:nvPr>
        </p:nvSpPr>
        <p:spPr>
          <a:xfrm>
            <a:off x="2855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35"/>
          <p:cNvSpPr txBox="1"/>
          <p:nvPr>
            <p:ph idx="7" type="body"/>
          </p:nvPr>
        </p:nvSpPr>
        <p:spPr>
          <a:xfrm>
            <a:off x="2855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75" name="Google Shape;175;p35"/>
          <p:cNvSpPr txBox="1"/>
          <p:nvPr>
            <p:ph idx="8" type="subTitle"/>
          </p:nvPr>
        </p:nvSpPr>
        <p:spPr>
          <a:xfrm>
            <a:off x="2855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SECTION_HEADER_2_1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/>
          <p:nvPr>
            <p:ph idx="2" type="pic"/>
          </p:nvPr>
        </p:nvSpPr>
        <p:spPr>
          <a:xfrm>
            <a:off x="5715750" y="1614500"/>
            <a:ext cx="3163800" cy="31638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6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ITLE_AND_BODY_1_1">
    <p:bg>
      <p:bgPr>
        <a:solidFill>
          <a:schemeClr val="dk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/>
          <p:nvPr>
            <p:ph idx="1" type="body"/>
          </p:nvPr>
        </p:nvSpPr>
        <p:spPr>
          <a:xfrm>
            <a:off x="3347475" y="3368198"/>
            <a:ext cx="4168500" cy="14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181" name="Google Shape;181;p37"/>
          <p:cNvSpPr/>
          <p:nvPr>
            <p:ph idx="2" type="pic"/>
          </p:nvPr>
        </p:nvSpPr>
        <p:spPr>
          <a:xfrm>
            <a:off x="7527925" y="2760977"/>
            <a:ext cx="1371600" cy="209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7"/>
          <p:cNvSpPr/>
          <p:nvPr>
            <p:ph idx="3" type="pic"/>
          </p:nvPr>
        </p:nvSpPr>
        <p:spPr>
          <a:xfrm>
            <a:off x="3339925" y="240660"/>
            <a:ext cx="1371600" cy="209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7"/>
          <p:cNvSpPr txBox="1"/>
          <p:nvPr>
            <p:ph type="title"/>
          </p:nvPr>
        </p:nvSpPr>
        <p:spPr>
          <a:xfrm>
            <a:off x="285575" y="23768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84" name="Google Shape;184;p37"/>
          <p:cNvSpPr txBox="1"/>
          <p:nvPr>
            <p:ph idx="4" type="subTitle"/>
          </p:nvPr>
        </p:nvSpPr>
        <p:spPr>
          <a:xfrm>
            <a:off x="4731075" y="237675"/>
            <a:ext cx="41685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85" name="Google Shape;185;p37"/>
          <p:cNvCxnSpPr/>
          <p:nvPr/>
        </p:nvCxnSpPr>
        <p:spPr>
          <a:xfrm>
            <a:off x="3339925" y="2587988"/>
            <a:ext cx="555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37"/>
          <p:cNvSpPr txBox="1"/>
          <p:nvPr>
            <p:ph idx="5" type="body"/>
          </p:nvPr>
        </p:nvSpPr>
        <p:spPr>
          <a:xfrm>
            <a:off x="4731075" y="847690"/>
            <a:ext cx="4168500" cy="14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187" name="Google Shape;187;p37"/>
          <p:cNvSpPr txBox="1"/>
          <p:nvPr>
            <p:ph idx="6" type="subTitle"/>
          </p:nvPr>
        </p:nvSpPr>
        <p:spPr>
          <a:xfrm>
            <a:off x="3347475" y="2758183"/>
            <a:ext cx="41685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ITLE_AND_BODY_1">
    <p:bg>
      <p:bgPr>
        <a:solidFill>
          <a:schemeClr val="dk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/>
          <p:nvPr>
            <p:ph idx="1" type="body"/>
          </p:nvPr>
        </p:nvSpPr>
        <p:spPr>
          <a:xfrm>
            <a:off x="3347475" y="2282600"/>
            <a:ext cx="4168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190" name="Google Shape;190;p38"/>
          <p:cNvSpPr/>
          <p:nvPr>
            <p:ph idx="2" type="pic"/>
          </p:nvPr>
        </p:nvSpPr>
        <p:spPr>
          <a:xfrm>
            <a:off x="7527925" y="188595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8"/>
          <p:cNvSpPr/>
          <p:nvPr>
            <p:ph idx="3" type="pic"/>
          </p:nvPr>
        </p:nvSpPr>
        <p:spPr>
          <a:xfrm>
            <a:off x="3339925" y="239625"/>
            <a:ext cx="1371600" cy="1371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2" name="Google Shape;192;p38"/>
          <p:cNvGrpSpPr/>
          <p:nvPr/>
        </p:nvGrpSpPr>
        <p:grpSpPr>
          <a:xfrm>
            <a:off x="3339925" y="1772950"/>
            <a:ext cx="5559600" cy="1597600"/>
            <a:chOff x="1807850" y="1773875"/>
            <a:chExt cx="5559600" cy="1597600"/>
          </a:xfrm>
        </p:grpSpPr>
        <p:cxnSp>
          <p:nvCxnSpPr>
            <p:cNvPr id="193" name="Google Shape;193;p38"/>
            <p:cNvCxnSpPr/>
            <p:nvPr/>
          </p:nvCxnSpPr>
          <p:spPr>
            <a:xfrm>
              <a:off x="1807850" y="17738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38"/>
            <p:cNvCxnSpPr/>
            <p:nvPr/>
          </p:nvCxnSpPr>
          <p:spPr>
            <a:xfrm>
              <a:off x="1807850" y="33714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5" name="Google Shape;195;p38"/>
          <p:cNvSpPr txBox="1"/>
          <p:nvPr>
            <p:ph type="title"/>
          </p:nvPr>
        </p:nvSpPr>
        <p:spPr>
          <a:xfrm>
            <a:off x="285575" y="23768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96" name="Google Shape;196;p38"/>
          <p:cNvSpPr txBox="1"/>
          <p:nvPr>
            <p:ph idx="4" type="subTitle"/>
          </p:nvPr>
        </p:nvSpPr>
        <p:spPr>
          <a:xfrm>
            <a:off x="4731075" y="237675"/>
            <a:ext cx="41685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38"/>
          <p:cNvSpPr txBox="1"/>
          <p:nvPr>
            <p:ph idx="5" type="body"/>
          </p:nvPr>
        </p:nvSpPr>
        <p:spPr>
          <a:xfrm>
            <a:off x="4731075" y="636150"/>
            <a:ext cx="4168500" cy="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198" name="Google Shape;198;p38"/>
          <p:cNvSpPr txBox="1"/>
          <p:nvPr>
            <p:ph idx="6" type="subTitle"/>
          </p:nvPr>
        </p:nvSpPr>
        <p:spPr>
          <a:xfrm>
            <a:off x="3347475" y="1884125"/>
            <a:ext cx="41685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9" name="Google Shape;199;p38"/>
          <p:cNvSpPr/>
          <p:nvPr>
            <p:ph idx="7" type="pic"/>
          </p:nvPr>
        </p:nvSpPr>
        <p:spPr>
          <a:xfrm>
            <a:off x="3339925" y="348920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8"/>
          <p:cNvSpPr txBox="1"/>
          <p:nvPr>
            <p:ph idx="8" type="subTitle"/>
          </p:nvPr>
        </p:nvSpPr>
        <p:spPr>
          <a:xfrm>
            <a:off x="4731075" y="3489200"/>
            <a:ext cx="41685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1" name="Google Shape;201;p38"/>
          <p:cNvSpPr txBox="1"/>
          <p:nvPr>
            <p:ph idx="9" type="body"/>
          </p:nvPr>
        </p:nvSpPr>
        <p:spPr>
          <a:xfrm>
            <a:off x="4731075" y="3887675"/>
            <a:ext cx="4168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SECTION_HEADER_2_1_1">
    <p:bg>
      <p:bgPr>
        <a:solidFill>
          <a:schemeClr val="dk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/>
          <p:nvPr>
            <p:ph idx="2" type="pic"/>
          </p:nvPr>
        </p:nvSpPr>
        <p:spPr>
          <a:xfrm>
            <a:off x="264450" y="212925"/>
            <a:ext cx="8615100" cy="471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2_2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0"/>
          <p:cNvSpPr/>
          <p:nvPr>
            <p:ph idx="2" type="pic"/>
          </p:nvPr>
        </p:nvSpPr>
        <p:spPr>
          <a:xfrm>
            <a:off x="1193350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40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40"/>
          <p:cNvSpPr/>
          <p:nvPr>
            <p:ph idx="3" type="pic"/>
          </p:nvPr>
        </p:nvSpPr>
        <p:spPr>
          <a:xfrm>
            <a:off x="3008813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40"/>
          <p:cNvSpPr/>
          <p:nvPr>
            <p:ph idx="4" type="pic"/>
          </p:nvPr>
        </p:nvSpPr>
        <p:spPr>
          <a:xfrm>
            <a:off x="6639738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40"/>
          <p:cNvSpPr/>
          <p:nvPr>
            <p:ph idx="5" type="pic"/>
          </p:nvPr>
        </p:nvSpPr>
        <p:spPr>
          <a:xfrm>
            <a:off x="4824275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40"/>
          <p:cNvSpPr/>
          <p:nvPr>
            <p:ph idx="6" type="pic"/>
          </p:nvPr>
        </p:nvSpPr>
        <p:spPr>
          <a:xfrm>
            <a:off x="285625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40"/>
          <p:cNvSpPr/>
          <p:nvPr>
            <p:ph idx="7" type="pic"/>
          </p:nvPr>
        </p:nvSpPr>
        <p:spPr>
          <a:xfrm>
            <a:off x="2101088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40"/>
          <p:cNvSpPr/>
          <p:nvPr>
            <p:ph idx="8" type="pic"/>
          </p:nvPr>
        </p:nvSpPr>
        <p:spPr>
          <a:xfrm>
            <a:off x="5732013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40"/>
          <p:cNvSpPr/>
          <p:nvPr>
            <p:ph idx="9" type="pic"/>
          </p:nvPr>
        </p:nvSpPr>
        <p:spPr>
          <a:xfrm>
            <a:off x="3916550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40"/>
          <p:cNvSpPr/>
          <p:nvPr>
            <p:ph idx="13" type="pic"/>
          </p:nvPr>
        </p:nvSpPr>
        <p:spPr>
          <a:xfrm>
            <a:off x="7547475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64600" y="212925"/>
            <a:ext cx="86151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Bebas Neue"/>
              <a:buNone/>
              <a:defRPr sz="8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64600" y="3650599"/>
            <a:ext cx="28074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●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○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■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●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○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■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●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○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■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lab.research.google.com/drive/1ddRfA-r5EVBwEbLGNnkTOOtjQS827EYc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/>
          <p:nvPr/>
        </p:nvSpPr>
        <p:spPr>
          <a:xfrm>
            <a:off x="4533650" y="4503350"/>
            <a:ext cx="2144629" cy="129449"/>
          </a:xfrm>
          <a:custGeom>
            <a:rect b="b" l="l" r="r" t="t"/>
            <a:pathLst>
              <a:path extrusionOk="0" h="8617" w="97064">
                <a:moveTo>
                  <a:pt x="97064" y="0"/>
                </a:moveTo>
                <a:cubicBezTo>
                  <a:pt x="64582" y="0"/>
                  <a:pt x="31976" y="2909"/>
                  <a:pt x="0" y="8617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0" name="Google Shape;220;p41"/>
          <p:cNvSpPr txBox="1"/>
          <p:nvPr>
            <p:ph type="ctrTitle"/>
          </p:nvPr>
        </p:nvSpPr>
        <p:spPr>
          <a:xfrm>
            <a:off x="252325" y="849599"/>
            <a:ext cx="8520600" cy="23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Midterm</a:t>
            </a:r>
            <a:endParaRPr/>
          </a:p>
        </p:txBody>
      </p:sp>
      <p:sp>
        <p:nvSpPr>
          <p:cNvPr id="221" name="Google Shape;221;p41"/>
          <p:cNvSpPr txBox="1"/>
          <p:nvPr>
            <p:ph idx="1" type="subTitle"/>
          </p:nvPr>
        </p:nvSpPr>
        <p:spPr>
          <a:xfrm>
            <a:off x="311750" y="3973225"/>
            <a:ext cx="85206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Talia Kouncar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1"/>
          <p:cNvSpPr/>
          <p:nvPr/>
        </p:nvSpPr>
        <p:spPr>
          <a:xfrm rot="249340">
            <a:off x="1510357" y="3355477"/>
            <a:ext cx="3605700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/>
          <p:nvPr>
            <p:ph idx="5" type="subTitle"/>
          </p:nvPr>
        </p:nvSpPr>
        <p:spPr>
          <a:xfrm>
            <a:off x="269542" y="307024"/>
            <a:ext cx="4636800" cy="23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Introduction to ensemble learning</a:t>
            </a:r>
            <a:endParaRPr/>
          </a:p>
        </p:txBody>
      </p:sp>
      <p:sp>
        <p:nvSpPr>
          <p:cNvPr id="228" name="Google Shape;228;p42"/>
          <p:cNvSpPr/>
          <p:nvPr/>
        </p:nvSpPr>
        <p:spPr>
          <a:xfrm rot="249448">
            <a:off x="-445914" y="6806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9" name="Google Shape;229;p42"/>
          <p:cNvSpPr txBox="1"/>
          <p:nvPr/>
        </p:nvSpPr>
        <p:spPr>
          <a:xfrm>
            <a:off x="415400" y="993900"/>
            <a:ext cx="35376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Topic:</a:t>
            </a:r>
            <a:r>
              <a:rPr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Ensemble Bagging and Boosting: A Deep Dive into Tree-Based Models.</a:t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The Problem:</a:t>
            </a:r>
            <a:r>
              <a:rPr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A single decision tree often struggles with "overfitting" (memorizing data but failing on new data) or "underfitting" (failing to capture the data's complexity).</a:t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The Ensemble Solution:</a:t>
            </a:r>
            <a:r>
              <a:rPr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A machine learning approach that combines multiple individual models to solve a single predictive problem, resulting in drastically improved accuracy and stability.</a:t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30" name="Google Shape;23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623" y="1391513"/>
            <a:ext cx="5021425" cy="23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/>
          <p:nvPr>
            <p:ph idx="5" type="subTitle"/>
          </p:nvPr>
        </p:nvSpPr>
        <p:spPr>
          <a:xfrm>
            <a:off x="269542" y="307024"/>
            <a:ext cx="4636800" cy="23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Purpose and </a:t>
            </a:r>
            <a:r>
              <a:rPr lang="en"/>
              <a:t>architecture- bagging</a:t>
            </a:r>
            <a:endParaRPr/>
          </a:p>
        </p:txBody>
      </p:sp>
      <p:sp>
        <p:nvSpPr>
          <p:cNvPr id="236" name="Google Shape;236;p43"/>
          <p:cNvSpPr/>
          <p:nvPr/>
        </p:nvSpPr>
        <p:spPr>
          <a:xfrm rot="249448">
            <a:off x="-445914" y="6806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7" name="Google Shape;237;p43"/>
          <p:cNvSpPr txBox="1"/>
          <p:nvPr/>
        </p:nvSpPr>
        <p:spPr>
          <a:xfrm>
            <a:off x="415400" y="993900"/>
            <a:ext cx="46368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An Analogy:</a:t>
            </a:r>
            <a:r>
              <a:rPr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Think of bagging as a group of people working on the same problem independently and then combining their results to get a better overall answer.</a:t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t/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How it Works:</a:t>
            </a:r>
            <a:endParaRPr b="1"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Parallel Training:</a:t>
            </a:r>
            <a:r>
              <a:rPr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Multiple models are trained in parallel, each on a different random subset of the original data (created by sampling with replacement, known as "bootstrapping").</a:t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Independent Models:</a:t>
            </a:r>
            <a:r>
              <a:rPr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The models are entirely independent of each other.</a:t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Combining Results:</a:t>
            </a:r>
            <a:r>
              <a:rPr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The final prediction is determined by taking the average (for regression) or using a majority vote (for classification).</a:t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Main Goal:</a:t>
            </a:r>
            <a:r>
              <a:rPr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To reduce variance and prevent overfitting.</a:t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38" name="Google Shape;238;p43"/>
          <p:cNvPicPr preferRelativeResize="0"/>
          <p:nvPr/>
        </p:nvPicPr>
        <p:blipFill rotWithShape="1">
          <a:blip r:embed="rId3">
            <a:alphaModFix/>
          </a:blip>
          <a:srcRect b="0" l="0" r="47307" t="0"/>
          <a:stretch/>
        </p:blipFill>
        <p:spPr>
          <a:xfrm>
            <a:off x="5193800" y="282938"/>
            <a:ext cx="3619649" cy="457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idx="5" type="subTitle"/>
          </p:nvPr>
        </p:nvSpPr>
        <p:spPr>
          <a:xfrm>
            <a:off x="269542" y="307024"/>
            <a:ext cx="4636800" cy="23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Purpose and architecture- Boosting</a:t>
            </a:r>
            <a:endParaRPr/>
          </a:p>
        </p:txBody>
      </p:sp>
      <p:sp>
        <p:nvSpPr>
          <p:cNvPr id="244" name="Google Shape;244;p44"/>
          <p:cNvSpPr/>
          <p:nvPr/>
        </p:nvSpPr>
        <p:spPr>
          <a:xfrm rot="249448">
            <a:off x="-445914" y="6806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5" name="Google Shape;245;p44"/>
          <p:cNvSpPr txBox="1"/>
          <p:nvPr/>
        </p:nvSpPr>
        <p:spPr>
          <a:xfrm>
            <a:off x="415400" y="993900"/>
            <a:ext cx="46368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An Analogy: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Think of boosting as a team where members learn sequentially, and each new member focuses specifically on the mistakes made by the previous ones to improve the team's performance.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</a:pPr>
            <a:r>
              <a:t/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</a:pPr>
            <a:r>
              <a:rPr b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How it Works:</a:t>
            </a:r>
            <a:endParaRPr b="1"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Sequential Training: 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Models are trained in a sequence, rather than at the same time.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Focusing on Errors: 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Each new model pays more attention to the data points that were misclassified by previous models by assigning higher weights to those difficult data points.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Combining Results: 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The final prediction is a weighted combination of all models, where better-performing models have more influence.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</a:pPr>
            <a:r>
              <a:rPr b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Main Goal: 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To reduce bias, handle underfitting, and convert "weak" learners into a "strong" learner.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46" name="Google Shape;246;p44"/>
          <p:cNvPicPr preferRelativeResize="0"/>
          <p:nvPr/>
        </p:nvPicPr>
        <p:blipFill rotWithShape="1">
          <a:blip r:embed="rId3">
            <a:alphaModFix/>
          </a:blip>
          <a:srcRect b="0" l="49548" r="0" t="0"/>
          <a:stretch/>
        </p:blipFill>
        <p:spPr>
          <a:xfrm>
            <a:off x="5446550" y="513175"/>
            <a:ext cx="3428384" cy="45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>
            <p:ph idx="5" type="subTitle"/>
          </p:nvPr>
        </p:nvSpPr>
        <p:spPr>
          <a:xfrm>
            <a:off x="269542" y="307024"/>
            <a:ext cx="4636800" cy="23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Architecture comparison</a:t>
            </a:r>
            <a:endParaRPr/>
          </a:p>
        </p:txBody>
      </p:sp>
      <p:sp>
        <p:nvSpPr>
          <p:cNvPr id="252" name="Google Shape;252;p45"/>
          <p:cNvSpPr/>
          <p:nvPr/>
        </p:nvSpPr>
        <p:spPr>
          <a:xfrm rot="249448">
            <a:off x="-445914" y="6806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3" name="Google Shape;253;p45"/>
          <p:cNvSpPr txBox="1"/>
          <p:nvPr/>
        </p:nvSpPr>
        <p:spPr>
          <a:xfrm>
            <a:off x="415400" y="993900"/>
            <a:ext cx="46368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54" name="Google Shape;25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975" y="1248200"/>
            <a:ext cx="6830050" cy="32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/>
          <p:nvPr>
            <p:ph idx="5" type="subTitle"/>
          </p:nvPr>
        </p:nvSpPr>
        <p:spPr>
          <a:xfrm>
            <a:off x="269542" y="307024"/>
            <a:ext cx="4636800" cy="23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Real world applications</a:t>
            </a:r>
            <a:endParaRPr/>
          </a:p>
        </p:txBody>
      </p:sp>
      <p:sp>
        <p:nvSpPr>
          <p:cNvPr id="260" name="Google Shape;260;p46"/>
          <p:cNvSpPr/>
          <p:nvPr/>
        </p:nvSpPr>
        <p:spPr>
          <a:xfrm rot="249448">
            <a:off x="-445914" y="6806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1" name="Google Shape;261;p46"/>
          <p:cNvSpPr txBox="1"/>
          <p:nvPr/>
        </p:nvSpPr>
        <p:spPr>
          <a:xfrm>
            <a:off x="415400" y="993900"/>
            <a:ext cx="82350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Industrial Digitalization &amp; AI:</a:t>
            </a:r>
            <a:r>
              <a:rPr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Highly effective for fleet analytics and heavy equipment monitoring. For example, forecasting commercial truck or vehicle component failures by analyzing continuous sensor data like engine vibration and fluid pressure.</a:t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Model Performance Evaluation:</a:t>
            </a:r>
            <a:r>
              <a:rPr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Ensemble models easily generate "Feature Importance" metrics, identifying which variables had the most mathematical impact on the predictions.</a:t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Financial Services:</a:t>
            </a:r>
            <a:r>
              <a:rPr lang="en" sz="13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Used heavily for real-time credit scoring and credit card fraud detection due to their ability to quickly classify complex, non-linear data patterns.</a:t>
            </a:r>
            <a:endParaRPr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62" name="Google Shape;26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9900" y="3171400"/>
            <a:ext cx="3944200" cy="19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7"/>
          <p:cNvSpPr txBox="1"/>
          <p:nvPr>
            <p:ph idx="5" type="subTitle"/>
          </p:nvPr>
        </p:nvSpPr>
        <p:spPr>
          <a:xfrm>
            <a:off x="269542" y="307024"/>
            <a:ext cx="4636800" cy="23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Step by step setup/install</a:t>
            </a:r>
            <a:endParaRPr/>
          </a:p>
        </p:txBody>
      </p:sp>
      <p:sp>
        <p:nvSpPr>
          <p:cNvPr id="268" name="Google Shape;268;p47"/>
          <p:cNvSpPr/>
          <p:nvPr/>
        </p:nvSpPr>
        <p:spPr>
          <a:xfrm rot="249448">
            <a:off x="-445914" y="6806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9" name="Google Shape;269;p47"/>
          <p:cNvSpPr txBox="1"/>
          <p:nvPr/>
        </p:nvSpPr>
        <p:spPr>
          <a:xfrm>
            <a:off x="415400" y="993900"/>
            <a:ext cx="82350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</a:rPr>
              <a:t>Prerequisites &amp; Dependencies: </a:t>
            </a:r>
            <a:r>
              <a:rPr lang="en" sz="1000">
                <a:solidFill>
                  <a:schemeClr val="lt2"/>
                </a:solidFill>
              </a:rPr>
              <a:t>* Python 3.8 or newer installed on your machine.</a:t>
            </a:r>
            <a:endParaRPr sz="10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</a:pPr>
            <a:r>
              <a:rPr lang="en" sz="1000">
                <a:solidFill>
                  <a:schemeClr val="lt2"/>
                </a:solidFill>
              </a:rPr>
              <a:t>Core libraries: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scikit-learn</a:t>
            </a:r>
            <a:r>
              <a:rPr lang="en" sz="1000">
                <a:solidFill>
                  <a:schemeClr val="lt2"/>
                </a:solidFill>
              </a:rPr>
              <a:t> (for Bagging/Random Forest),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xgboost</a:t>
            </a:r>
            <a:r>
              <a:rPr lang="en" sz="1000">
                <a:solidFill>
                  <a:schemeClr val="lt2"/>
                </a:solidFill>
              </a:rPr>
              <a:t> (for Boosting),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r>
              <a:rPr lang="en" sz="1000">
                <a:solidFill>
                  <a:schemeClr val="lt2"/>
                </a:solidFill>
              </a:rPr>
              <a:t> (for data handling), and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numpy</a:t>
            </a:r>
            <a:r>
              <a:rPr lang="en" sz="1000">
                <a:solidFill>
                  <a:schemeClr val="lt2"/>
                </a:solidFill>
              </a:rPr>
              <a:t> (for numerical operations).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</a:rPr>
              <a:t>Step-by-Step Installation:</a:t>
            </a:r>
            <a:endParaRPr b="1" sz="10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1000"/>
              <a:buAutoNum type="arabicPeriod"/>
            </a:pPr>
            <a:r>
              <a:rPr lang="en" sz="1000">
                <a:solidFill>
                  <a:schemeClr val="lt2"/>
                </a:solidFill>
              </a:rPr>
              <a:t>Verify Python: Open your terminal or command prompt and type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--version</a:t>
            </a:r>
            <a:r>
              <a:rPr lang="en" sz="1000">
                <a:solidFill>
                  <a:schemeClr val="lt2"/>
                </a:solidFill>
              </a:rPr>
              <a:t> to ensure Python is active.</a:t>
            </a:r>
            <a:endParaRPr sz="10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AutoNum type="arabicPeriod"/>
            </a:pPr>
            <a:r>
              <a:rPr lang="en" sz="1000">
                <a:solidFill>
                  <a:schemeClr val="lt2"/>
                </a:solidFill>
              </a:rPr>
              <a:t>Create a Virtual Environment (Recommended): Isolate your project by running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-m venv ensemble_env</a:t>
            </a:r>
            <a:r>
              <a:rPr lang="en" sz="1000">
                <a:solidFill>
                  <a:schemeClr val="lt2"/>
                </a:solidFill>
              </a:rPr>
              <a:t> and activating it.</a:t>
            </a:r>
            <a:endParaRPr sz="10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AutoNum type="arabicPeriod"/>
            </a:pPr>
            <a:r>
              <a:rPr lang="en" sz="1000">
                <a:solidFill>
                  <a:schemeClr val="lt2"/>
                </a:solidFill>
              </a:rPr>
              <a:t>Install Core Packages: Run the exact command: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 install scikit-learn xgboost pandas numpy</a:t>
            </a:r>
            <a:r>
              <a:rPr lang="en" sz="1000">
                <a:solidFill>
                  <a:schemeClr val="lt2"/>
                </a:solidFill>
              </a:rPr>
              <a:t>.</a:t>
            </a:r>
            <a:endParaRPr sz="10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AutoNum type="arabicPeriod"/>
            </a:pPr>
            <a:r>
              <a:rPr lang="en" sz="1000">
                <a:solidFill>
                  <a:schemeClr val="lt2"/>
                </a:solidFill>
              </a:rPr>
              <a:t>Verify Installation: Open a Python shell and type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sklearn</a:t>
            </a:r>
            <a:r>
              <a:rPr lang="en" sz="1000">
                <a:solidFill>
                  <a:schemeClr val="lt2"/>
                </a:solidFill>
              </a:rPr>
              <a:t> and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xgboost</a:t>
            </a:r>
            <a:r>
              <a:rPr lang="en" sz="1000">
                <a:solidFill>
                  <a:schemeClr val="lt2"/>
                </a:solidFill>
              </a:rPr>
              <a:t>. If no errors are returned, the setup is complete.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</a:rPr>
              <a:t>Potential Challenges to Watch Out For:</a:t>
            </a:r>
            <a:endParaRPr b="1" sz="10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</a:pPr>
            <a:r>
              <a:rPr i="1" lang="en" sz="1000">
                <a:solidFill>
                  <a:schemeClr val="lt2"/>
                </a:solidFill>
              </a:rPr>
              <a:t>C++ Compiler Requirements:</a:t>
            </a:r>
            <a:r>
              <a:rPr lang="en" sz="1000">
                <a:solidFill>
                  <a:schemeClr val="lt2"/>
                </a:solidFill>
              </a:rPr>
              <a:t> Depending on your operating system, XGBoost may require a C++ compiler (like GCC or MSVC) to build correctly from source.</a:t>
            </a:r>
            <a:endParaRPr sz="10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</a:pPr>
            <a:r>
              <a:rPr i="1" lang="en" sz="1000">
                <a:solidFill>
                  <a:schemeClr val="lt2"/>
                </a:solidFill>
              </a:rPr>
              <a:t>Library Version Conflicts:</a:t>
            </a:r>
            <a:r>
              <a:rPr lang="en" sz="1000">
                <a:solidFill>
                  <a:schemeClr val="lt2"/>
                </a:solidFill>
              </a:rPr>
              <a:t> Installing these tools globally can sometimes cause conflicts with older versions of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numpy</a:t>
            </a:r>
            <a:r>
              <a:rPr lang="en" sz="1000">
                <a:solidFill>
                  <a:schemeClr val="lt2"/>
                </a:solidFill>
              </a:rPr>
              <a:t> or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scikit-learn</a:t>
            </a:r>
            <a:r>
              <a:rPr lang="en" sz="1000">
                <a:solidFill>
                  <a:schemeClr val="lt2"/>
                </a:solidFill>
              </a:rPr>
              <a:t> already on your system, which is why a virtual environment is highly recommended.</a:t>
            </a:r>
            <a:endParaRPr sz="10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</a:pPr>
            <a:r>
              <a:rPr i="1" lang="en" sz="1000">
                <a:solidFill>
                  <a:schemeClr val="lt2"/>
                </a:solidFill>
              </a:rPr>
              <a:t>Resource Constraints:</a:t>
            </a:r>
            <a:r>
              <a:rPr lang="en" sz="1000">
                <a:solidFill>
                  <a:schemeClr val="lt2"/>
                </a:solidFill>
              </a:rPr>
              <a:t> If working with very large datasets, installing the GPU-accelerated version of XGBoost might be necessary to avoid long training times.</a:t>
            </a:r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8"/>
          <p:cNvSpPr txBox="1"/>
          <p:nvPr>
            <p:ph idx="5" type="subTitle"/>
          </p:nvPr>
        </p:nvSpPr>
        <p:spPr>
          <a:xfrm>
            <a:off x="269542" y="307024"/>
            <a:ext cx="4636800" cy="23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Ml pipeline integration</a:t>
            </a:r>
            <a:endParaRPr/>
          </a:p>
        </p:txBody>
      </p:sp>
      <p:sp>
        <p:nvSpPr>
          <p:cNvPr id="275" name="Google Shape;275;p48"/>
          <p:cNvSpPr/>
          <p:nvPr/>
        </p:nvSpPr>
        <p:spPr>
          <a:xfrm rot="249448">
            <a:off x="-445914" y="6806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6" name="Google Shape;276;p48"/>
          <p:cNvSpPr txBox="1"/>
          <p:nvPr/>
        </p:nvSpPr>
        <p:spPr>
          <a:xfrm>
            <a:off x="415400" y="993900"/>
            <a:ext cx="39921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Phase 1: Data Preprocessing</a:t>
            </a:r>
            <a:endParaRPr b="1"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Advantage: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Tree-based ensemble models do not require feature scaling or normalization (unlike neural networks).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Requirements: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You still must handle missing data (imputation) and convert all text-based categorical data into numerical values using techniques like One-Hot Encoding.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Phase 2: Training &amp; Hyperparameter Tuning</a:t>
            </a:r>
            <a:endParaRPr b="1"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The Process: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The model is fed the preprocessed data to learn patterns.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i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Tuning: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This phase heavily utilizes tools like </a:t>
            </a:r>
            <a:r>
              <a:rPr lang="en" sz="1200">
                <a:solidFill>
                  <a:srgbClr val="188038"/>
                </a:solidFill>
                <a:latin typeface="Lora"/>
                <a:ea typeface="Lora"/>
                <a:cs typeface="Lora"/>
                <a:sym typeface="Lora"/>
              </a:rPr>
              <a:t>GridSearchCV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to find the optimal settings, such as </a:t>
            </a:r>
            <a:r>
              <a:rPr lang="en" sz="1200">
                <a:solidFill>
                  <a:srgbClr val="188038"/>
                </a:solidFill>
                <a:latin typeface="Lora"/>
                <a:ea typeface="Lora"/>
                <a:cs typeface="Lora"/>
                <a:sym typeface="Lora"/>
              </a:rPr>
              <a:t>n_estimators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(number of trees) and </a:t>
            </a:r>
            <a:r>
              <a:rPr lang="en" sz="1200">
                <a:solidFill>
                  <a:srgbClr val="188038"/>
                </a:solidFill>
                <a:latin typeface="Lora"/>
                <a:ea typeface="Lora"/>
                <a:cs typeface="Lora"/>
                <a:sym typeface="Lora"/>
              </a:rPr>
              <a:t>max_depth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(how large each tree can grow), ensuring the model balances bias and variance.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7" name="Google Shape;277;p48"/>
          <p:cNvSpPr txBox="1"/>
          <p:nvPr/>
        </p:nvSpPr>
        <p:spPr>
          <a:xfrm>
            <a:off x="4559000" y="989300"/>
            <a:ext cx="4502700" cy="3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Phase 3: Model Evaluation</a:t>
            </a:r>
            <a:endParaRPr b="1"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Validation: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Using k-fold cross-validation to test the model on multiple different splits of the data.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Metrics: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Depending on the use case, the model is evaluated using specific metrics. For predicting vehicle maintenance failures, you would track Accuracy, Precision, Recall, and the ROC-AUC curve to minimize false positives.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Phase 4: Deployment</a:t>
            </a:r>
            <a:endParaRPr b="1"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i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Exporting: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The fully trained ensemble model is saved as a serialized file using libraries like </a:t>
            </a:r>
            <a:r>
              <a:rPr lang="en" sz="1200">
                <a:solidFill>
                  <a:srgbClr val="188038"/>
                </a:solidFill>
                <a:latin typeface="Lora"/>
                <a:ea typeface="Lora"/>
                <a:cs typeface="Lora"/>
                <a:sym typeface="Lora"/>
              </a:rPr>
              <a:t>joblib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or </a:t>
            </a:r>
            <a:r>
              <a:rPr lang="en" sz="1200">
                <a:solidFill>
                  <a:srgbClr val="188038"/>
                </a:solidFill>
                <a:latin typeface="Lora"/>
                <a:ea typeface="Lora"/>
                <a:cs typeface="Lora"/>
                <a:sym typeface="Lora"/>
              </a:rPr>
              <a:t>pickle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Production:</a:t>
            </a: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 The saved model is integrated into a live software environment (like a Flask or FastAPI application) where it can ingest live streams of data—such as live vehicle sensor feeds—and return real-time predictions.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9"/>
          <p:cNvSpPr txBox="1"/>
          <p:nvPr>
            <p:ph idx="5" type="subTitle"/>
          </p:nvPr>
        </p:nvSpPr>
        <p:spPr>
          <a:xfrm>
            <a:off x="269542" y="307024"/>
            <a:ext cx="4636800" cy="23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MiniWorkshop</a:t>
            </a:r>
            <a:endParaRPr/>
          </a:p>
        </p:txBody>
      </p:sp>
      <p:sp>
        <p:nvSpPr>
          <p:cNvPr id="283" name="Google Shape;283;p49"/>
          <p:cNvSpPr/>
          <p:nvPr/>
        </p:nvSpPr>
        <p:spPr>
          <a:xfrm rot="249448">
            <a:off x="-445914" y="680613"/>
            <a:ext cx="3727542" cy="433039"/>
          </a:xfrm>
          <a:custGeom>
            <a:rect b="b" l="l" r="r" t="t"/>
            <a:pathLst>
              <a:path extrusionOk="0" h="17321" w="149097">
                <a:moveTo>
                  <a:pt x="0" y="16843"/>
                </a:moveTo>
                <a:cubicBezTo>
                  <a:pt x="10025" y="13500"/>
                  <a:pt x="20512" y="11208"/>
                  <a:pt x="31053" y="10456"/>
                </a:cubicBezTo>
                <a:cubicBezTo>
                  <a:pt x="33851" y="10256"/>
                  <a:pt x="38283" y="8774"/>
                  <a:pt x="39422" y="11337"/>
                </a:cubicBezTo>
                <a:cubicBezTo>
                  <a:pt x="41319" y="15604"/>
                  <a:pt x="25326" y="19923"/>
                  <a:pt x="25987" y="15301"/>
                </a:cubicBezTo>
                <a:cubicBezTo>
                  <a:pt x="26625" y="10839"/>
                  <a:pt x="33301" y="9621"/>
                  <a:pt x="37660" y="8474"/>
                </a:cubicBezTo>
                <a:cubicBezTo>
                  <a:pt x="48374" y="5654"/>
                  <a:pt x="59437" y="4147"/>
                  <a:pt x="70474" y="3188"/>
                </a:cubicBezTo>
                <a:cubicBezTo>
                  <a:pt x="96603" y="917"/>
                  <a:pt x="122872" y="-311"/>
                  <a:pt x="149097" y="10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4" name="Google Shape;284;p49"/>
          <p:cNvSpPr txBox="1"/>
          <p:nvPr/>
        </p:nvSpPr>
        <p:spPr>
          <a:xfrm>
            <a:off x="415400" y="993900"/>
            <a:ext cx="82458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Mini Workshop Link: </a:t>
            </a:r>
            <a:r>
              <a:rPr b="1" lang="en" sz="1200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3"/>
              </a:rPr>
              <a:t>https://colab.research.google.com/drive/1ddRfA-r5EVBwEbLGNnkTOOtjQS827EYc?usp=sharing</a:t>
            </a:r>
            <a:endParaRPr b="1"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To demonstrate this tool's functionality, we are using a Vehicle Predictive Maintenance scenario. Our goal is to predict if a commercial vehicle engine is going to break down before it actually happens. To do this, we are feeding our models synthetic telemetry data from three sensors: Engine Temperature, Vibration, and Fluid Pressure.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2"/>
                </a:solidFill>
                <a:latin typeface="Lora"/>
                <a:ea typeface="Lora"/>
                <a:cs typeface="Lora"/>
                <a:sym typeface="Lora"/>
              </a:rPr>
              <a:t>We rigged the dataset so that a breakdown occurs when temperature and vibration spike simultaneously. This is a perfect use case for Bagging and Boosting because these models excel at cutting through noisy sensor data, like irrelevant pressure fluctuations, to pinpoint the exact mathematical patterns that lead to a breakdown.</a:t>
            </a:r>
            <a:endParaRPr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ow-to or  Mini-Lesson #2">
  <a:themeElements>
    <a:clrScheme name="Simple Light">
      <a:dk1>
        <a:srgbClr val="1E01FA"/>
      </a:dk1>
      <a:lt1>
        <a:srgbClr val="FFFFFF"/>
      </a:lt1>
      <a:dk2>
        <a:srgbClr val="BFEE1D"/>
      </a:dk2>
      <a:lt2>
        <a:srgbClr val="000000"/>
      </a:lt2>
      <a:accent1>
        <a:srgbClr val="FC9F5B"/>
      </a:accent1>
      <a:accent2>
        <a:srgbClr val="E75A7C"/>
      </a:accent2>
      <a:accent3>
        <a:srgbClr val="BFEDEF"/>
      </a:accent3>
      <a:accent4>
        <a:srgbClr val="337357"/>
      </a:accent4>
      <a:accent5>
        <a:srgbClr val="A8763E"/>
      </a:accent5>
      <a:accent6>
        <a:srgbClr val="45062E"/>
      </a:accent6>
      <a:hlink>
        <a:srgbClr val="BFEE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